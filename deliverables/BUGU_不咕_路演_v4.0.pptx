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d0f2724d44c4fc1" /><Relationship Type="http://schemas.openxmlformats.org/officeDocument/2006/relationships/extended-properties" Target="/docProps/app.xml" Id="Rc3d77bf525174bed" /><Relationship Type="http://schemas.openxmlformats.org/officeDocument/2006/relationships/officeDocument" Target="/ppt/presentation.xml" Id="R2b406171002f499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f3dba3e28524a11"/>
  </p:sldMasterIdLst>
  <p:notesMasterIdLst>
    <p:notesMasterId xmlns:r="http://schemas.openxmlformats.org/officeDocument/2006/relationships" r:id="Racbeca2a8b744e51"/>
  </p:notesMasterIdLst>
  <p:sldIdLst>
    <p:sldId xmlns:r="http://schemas.openxmlformats.org/officeDocument/2006/relationships" id="256" r:id="R58357ad091b3432f"/>
    <p:sldId xmlns:r="http://schemas.openxmlformats.org/officeDocument/2006/relationships" id="257" r:id="Rb6f2e6c2ed204ab0"/>
    <p:sldId xmlns:r="http://schemas.openxmlformats.org/officeDocument/2006/relationships" id="258" r:id="Rf00be2051c1046a8"/>
    <p:sldId xmlns:r="http://schemas.openxmlformats.org/officeDocument/2006/relationships" id="259" r:id="R44ed5e30cfa0458d"/>
    <p:sldId xmlns:r="http://schemas.openxmlformats.org/officeDocument/2006/relationships" id="260" r:id="R5b947e20ac234a58"/>
    <p:sldId xmlns:r="http://schemas.openxmlformats.org/officeDocument/2006/relationships" id="261" r:id="R434ea8842f084a7c"/>
    <p:sldId xmlns:r="http://schemas.openxmlformats.org/officeDocument/2006/relationships" id="262" r:id="R840d8265e73e49db"/>
    <p:sldId xmlns:r="http://schemas.openxmlformats.org/officeDocument/2006/relationships" id="263" r:id="Rc10ff5f3ac1a4cf5"/>
    <p:sldId xmlns:r="http://schemas.openxmlformats.org/officeDocument/2006/relationships" id="264" r:id="Rdad3542085814196"/>
    <p:sldId xmlns:r="http://schemas.openxmlformats.org/officeDocument/2006/relationships" id="265" r:id="Rdde346c8c08c4ac8"/>
    <p:sldId xmlns:r="http://schemas.openxmlformats.org/officeDocument/2006/relationships" id="266" r:id="R1605b092b9ee4fab"/>
    <p:sldId xmlns:r="http://schemas.openxmlformats.org/officeDocument/2006/relationships" id="267" r:id="Red5bdbb47b6947e8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6f7e7bf1cf4449e" /><Relationship Type="http://schemas.openxmlformats.org/officeDocument/2006/relationships/slideMaster" Target="/ppt/slideMasters/slideMaster1.xml" Id="Rbf3dba3e28524a11" /><Relationship Type="http://schemas.openxmlformats.org/officeDocument/2006/relationships/notesMaster" Target="/ppt/notesMasters/notesMaster1.xml" Id="Racbeca2a8b744e51" /><Relationship Type="http://schemas.openxmlformats.org/officeDocument/2006/relationships/presProps" Target="/ppt/presProps.xml" Id="Rfacd1ae519664f93" /><Relationship Type="http://schemas.openxmlformats.org/officeDocument/2006/relationships/tableStyles" Target="/ppt/tableStyles.xml" Id="Rea62f4eaa07b4ca1" /><Relationship Type="http://schemas.openxmlformats.org/officeDocument/2006/relationships/slide" Target="/ppt/slides/slide1.xml" Id="R58357ad091b3432f" /><Relationship Type="http://schemas.openxmlformats.org/officeDocument/2006/relationships/slide" Target="/ppt/slides/slide2.xml" Id="Rb6f2e6c2ed204ab0" /><Relationship Type="http://schemas.openxmlformats.org/officeDocument/2006/relationships/slide" Target="/ppt/slides/slide3.xml" Id="Rf00be2051c1046a8" /><Relationship Type="http://schemas.openxmlformats.org/officeDocument/2006/relationships/slide" Target="/ppt/slides/slide4.xml" Id="R44ed5e30cfa0458d" /><Relationship Type="http://schemas.openxmlformats.org/officeDocument/2006/relationships/slide" Target="/ppt/slides/slide5.xml" Id="R5b947e20ac234a58" /><Relationship Type="http://schemas.openxmlformats.org/officeDocument/2006/relationships/slide" Target="/ppt/slides/slide6.xml" Id="R434ea8842f084a7c" /><Relationship Type="http://schemas.openxmlformats.org/officeDocument/2006/relationships/slide" Target="/ppt/slides/slide7.xml" Id="R840d8265e73e49db" /><Relationship Type="http://schemas.openxmlformats.org/officeDocument/2006/relationships/slide" Target="/ppt/slides/slide8.xml" Id="Rc10ff5f3ac1a4cf5" /><Relationship Type="http://schemas.openxmlformats.org/officeDocument/2006/relationships/slide" Target="/ppt/slides/slide9.xml" Id="Rdad3542085814196" /><Relationship Type="http://schemas.openxmlformats.org/officeDocument/2006/relationships/slide" Target="/ppt/slides/slide10.xml" Id="Rdde346c8c08c4ac8" /><Relationship Type="http://schemas.openxmlformats.org/officeDocument/2006/relationships/slide" Target="/ppt/slides/slide11.xml" Id="R1605b092b9ee4fab" /><Relationship Type="http://schemas.openxmlformats.org/officeDocument/2006/relationships/slide" Target="/ppt/slides/slide12.xml" Id="Red5bdbb47b6947e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0ed802be5204a3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f6b343265614880" /><Relationship Type="http://schemas.openxmlformats.org/officeDocument/2006/relationships/notesMaster" Target="/ppt/notesMasters/notesMaster1.xml" Id="R6bc729bf977a4b2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537228d444844dc" /><Relationship Type="http://schemas.openxmlformats.org/officeDocument/2006/relationships/notesMaster" Target="/ppt/notesMasters/notesMaster1.xml" Id="Rf93d14d8d6a2422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1bba064ebf341be" /><Relationship Type="http://schemas.openxmlformats.org/officeDocument/2006/relationships/notesMaster" Target="/ppt/notesMasters/notesMaster1.xml" Id="Rfcfd137d064c419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fee7b72ab9a4bb6" /><Relationship Type="http://schemas.openxmlformats.org/officeDocument/2006/relationships/notesMaster" Target="/ppt/notesMasters/notesMaster1.xml" Id="R7f981405e1cd473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941f4e7bd40438d" /><Relationship Type="http://schemas.openxmlformats.org/officeDocument/2006/relationships/notesMaster" Target="/ppt/notesMasters/notesMaster1.xml" Id="R821dce3bae80434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57016efd5ab4158" /><Relationship Type="http://schemas.openxmlformats.org/officeDocument/2006/relationships/notesMaster" Target="/ppt/notesMasters/notesMaster1.xml" Id="Rb21d2d28a71b4fa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bad5fc86be44703" /><Relationship Type="http://schemas.openxmlformats.org/officeDocument/2006/relationships/notesMaster" Target="/ppt/notesMasters/notesMaster1.xml" Id="R87cbf0021b1f4c3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129505a7daf492c" /><Relationship Type="http://schemas.openxmlformats.org/officeDocument/2006/relationships/notesMaster" Target="/ppt/notesMasters/notesMaster1.xml" Id="R44dda19d4b50435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b5ffb3b0d804a40" /><Relationship Type="http://schemas.openxmlformats.org/officeDocument/2006/relationships/notesMaster" Target="/ppt/notesMasters/notesMaster1.xml" Id="R804d657e01264fa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21b8c66776c4cb8" /><Relationship Type="http://schemas.openxmlformats.org/officeDocument/2006/relationships/notesMaster" Target="/ppt/notesMasters/notesMaster1.xml" Id="R18a44293c2c34c2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8626fb7de1343d4" /><Relationship Type="http://schemas.openxmlformats.org/officeDocument/2006/relationships/notesMaster" Target="/ppt/notesMasters/notesMaster1.xml" Id="R52519da1ae6243c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e2419407d7746f9" /><Relationship Type="http://schemas.openxmlformats.org/officeDocument/2006/relationships/notesMaster" Target="/ppt/notesMasters/notesMaster1.xml" Id="R69fd923647a44af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BUGU 不咕通过插件接入多信源，让大模型识别任务进展与完成依据，并提供 Live2D 桌面陪伴。图为用户确认的 AI 生成鸟娘品牌角色，来源 assets/brand/bugu-birdgirl-v1/bugu-icon.png；当前品牌位图不等于已制作好的 Live2D 模型。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这是典型工作场景示意，不是宣称当前已经自动合并这三个渠道。目标用户同时使用沟通工具与编程 Agent，往往还要自己判断还有什么没完成。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先建立三件事的全貌。多信源决定覆盖面；AI 帮助理解任务是否推进、是否已交付；桌宠让产品在桌面有持续可见的陪伴感。自然语言任务管理是 AI 能力的延伸。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完整实机连接窗口。展示飞书、GitHub、本地记录与编程 Agent 会话的入口。读取会话与调用 Agent 的 AI 能力是不同能力与授权。当前会话模型提取为单来源主动触发，跨源自动归并尚在后续计划。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完整实机截图：真实 Codex 对虚构演示会话的分析。它读到白屏修复、回归测试、刷新恢复补充条件和 PR 交付反馈，给出待验收与具体下一步。AI 识别阶段不等于自动把业务任务设为完成。依据与来源均在完整窗口中保留。参考 docs/engineering/Agent编排与任务聊天_2026-09-14.md。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阶段识别要考虑发言角色与证据。助手反馈“已修复”“已提交”表示交付线索，不能替代用户验收。展示的阶段是理解会话的产品逻辑，正式任务变更仍需校验和用户确认。避免把模型判断包装成百分之百准确的自动完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聊天页以图标打开模型设置，当前项目中的查询与任务变更可直接用自然语言表达。图中为真实 Codex 模型调用生成的变更预览，使用虚构路演记录，尚未执行。确认后应用检查版本并原子提交。来源：BUGU 打包应用实机截图；功能说明 docs/engineering/Agent编排与任务聊天_2026-09-14.md。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这是应用真实渲染的完整桌宠窗口，不是重新绘制的人物。当前展示 Hiyori 桃濑日和，版权属于 Live2D Inc.，不是团队原创模型。软件支持导入 Live2D 运行时模型及桌面显示控制。展示来源为本次 CUA 实机截图。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两张均为完整窗口截图：左边显示自动话语设置、每日上限和静默时段，右边展示手动气泡预览。自动话语需用户开启，默认关闭；这里不把手动触发的气泡说成自主模型提醒。基于事项的话语和系统声音另有可控设置，桌宠不替用户改变任务状态。角色 Hiyori © Live2D Inc.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产品价值是减少重复整理和遗漏，同时保留一个低干扰的桌面陪伴入口。这里描述三部分如何组成体验，不宣称多源自动关联已完成，也不编造准确率、留存或增长指标。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区分已实现能力和验证范围。Codex 模型调用与聊天任务CRUD实机通过；飞书模型提取接线已有隔离回归，真实租户联调未完成。Responses和Chat Completions协议已实现，真实服务仍需验收。不把未来跨源编排说成现有功能。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实机演示顺序：多信源连接、带原文依据的完成情况分析、Live2D 桌宠与可控话语，再按时间展示 AI 聊天。鸟娘为 BUGU 品牌形象；实际桌宠仍为 Hiyori 官方示例模型。品牌图来源 assets/brand/bugu-birdgirl-v1/bugu-wordmark.png，AI 生成并由用户确认。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0e296364f4d46b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66c63bf1b5a4d1c" /><Relationship Type="http://schemas.openxmlformats.org/officeDocument/2006/relationships/slideLayout" Target="/ppt/slideLayouts/slideLayout1.xml" Id="R4a7389616e14444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a7389616e14444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4da51d90db4a67" /><Relationship Type="http://schemas.openxmlformats.org/officeDocument/2006/relationships/image" Target="/ppt/media/image.png" Id="R43b9c3cd03e1430c" /><Relationship Type="http://schemas.openxmlformats.org/officeDocument/2006/relationships/notesSlide" Target="/ppt/notesSlides/notesSlide1.xml" Id="R6b96e845c2a946a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103dcbcfde434f" /><Relationship Type="http://schemas.openxmlformats.org/officeDocument/2006/relationships/notesSlide" Target="/ppt/notesSlides/notesSlide2.xml" Id="R2f18b8273bd844f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3b6bb6ee2a4146" /><Relationship Type="http://schemas.openxmlformats.org/officeDocument/2006/relationships/notesSlide" Target="/ppt/notesSlides/notesSlide3.xml" Id="Reec67e47178f4e2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418d9d4d08408c" /><Relationship Type="http://schemas.openxmlformats.org/officeDocument/2006/relationships/image" Target="/ppt/media/image.jpeg" Id="R2db11863c98640e5" /><Relationship Type="http://schemas.openxmlformats.org/officeDocument/2006/relationships/notesSlide" Target="/ppt/notesSlides/notesSlide4.xml" Id="Rba85d64a4dd24c9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e51adf81934af0" /><Relationship Type="http://schemas.openxmlformats.org/officeDocument/2006/relationships/image" Target="/ppt/media/image2.jpeg" Id="Ra10c2b0605cf415c" /><Relationship Type="http://schemas.openxmlformats.org/officeDocument/2006/relationships/notesSlide" Target="/ppt/notesSlides/notesSlide5.xml" Id="Ra91c46043a30488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a3d5f354d941c8" /><Relationship Type="http://schemas.openxmlformats.org/officeDocument/2006/relationships/notesSlide" Target="/ppt/notesSlides/notesSlide6.xml" Id="R2d62533c736945b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cd637d72754462" /><Relationship Type="http://schemas.openxmlformats.org/officeDocument/2006/relationships/image" Target="/ppt/media/image3.jpeg" Id="R3b4ae00c045f49ac" /><Relationship Type="http://schemas.openxmlformats.org/officeDocument/2006/relationships/notesSlide" Target="/ppt/notesSlides/notesSlide7.xml" Id="Rff20ea8f644d478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ccac2311504064" /><Relationship Type="http://schemas.openxmlformats.org/officeDocument/2006/relationships/image" Target="/ppt/media/image4.jpeg" Id="R03a091f5092b4932" /><Relationship Type="http://schemas.openxmlformats.org/officeDocument/2006/relationships/notesSlide" Target="/ppt/notesSlides/notesSlide8.xml" Id="Ra4747a17d938427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19a809d62c49b5" /><Relationship Type="http://schemas.openxmlformats.org/officeDocument/2006/relationships/image" Target="/ppt/media/image5.jpeg" Id="R290b7cfa0da74276" /><Relationship Type="http://schemas.openxmlformats.org/officeDocument/2006/relationships/image" Target="/ppt/media/image6.jpeg" Id="R366e079e82f04791" /><Relationship Type="http://schemas.openxmlformats.org/officeDocument/2006/relationships/notesSlide" Target="/ppt/notesSlides/notesSlide9.xml" Id="Rd861a2c6c6984fa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d125f54cc74f0c" /><Relationship Type="http://schemas.openxmlformats.org/officeDocument/2006/relationships/notesSlide" Target="/ppt/notesSlides/notesSlide10.xml" Id="Ra68e6bf2fc874af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027dd96c294e17" /><Relationship Type="http://schemas.openxmlformats.org/officeDocument/2006/relationships/notesSlide" Target="/ppt/notesSlides/notesSlide11.xml" Id="R696b8fc3daaf4da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5c161719714354" /><Relationship Type="http://schemas.openxmlformats.org/officeDocument/2006/relationships/image" Target="/ppt/media/image2.png" Id="R2cd4b1c9a3fa4b96" /><Relationship Type="http://schemas.openxmlformats.org/officeDocument/2006/relationships/notesSlide" Target="/ppt/notesSlides/notesSlide12.xml" Id="Rd9aab14d6051471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b9c3cd03e1430c"/>
          <a:stretch xmlns:a="http://schemas.openxmlformats.org/drawingml/2006/main"/>
        </p:blipFill>
        <p:spPr>
          <a:xfrm xmlns:a="http://schemas.openxmlformats.org/drawingml/2006/main">
            <a:off x="8305800" y="1066800"/>
            <a:ext cx="6324600" cy="63246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D37E96-8B3E-4604-BB6B-0AD778D3F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28800"/>
            <a:ext cx="7429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7500" b="1">
                <a:solidFill>
                  <a:srgbClr val="202324"/>
                </a:solidFill>
                <a:latin typeface="Heiti TC"/>
                <a:ea typeface="Heiti TC"/>
                <a:cs typeface="Heiti TC"/>
              </a:defRPr>
            </a:pPr>
            <a:r>
              <a:rPr sz="7500" b="1">
                <a:solidFill>
                  <a:srgbClr val="202324"/>
                </a:solidFill>
                <a:latin typeface="Heiti TC"/>
                <a:ea typeface="Heiti TC"/>
                <a:cs typeface="Heiti TC"/>
              </a:rPr>
              <a:t>BUGU 不咕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835509-FA8F-4475-9887-5CB2B77ED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14750"/>
            <a:ext cx="6667500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BC5100"/>
                </a:solidFill>
                <a:latin typeface="Heiti TC"/>
                <a:ea typeface="Heiti TC"/>
                <a:cs typeface="Heiti TC"/>
              </a:defRPr>
            </a:pPr>
            <a:r>
              <a:rPr sz="3300" b="1">
                <a:solidFill>
                  <a:srgbClr val="BC5100"/>
                </a:solidFill>
                <a:latin typeface="Heiti TC"/>
                <a:ea typeface="Heiti TC"/>
                <a:cs typeface="Heiti TC"/>
              </a:rPr>
              <a:t>多信源</a:t>
            </a:r>
          </a:p>
          <a:p xmlns:a="http://schemas.openxmlformats.org/drawingml/2006/main">
            <a:pPr>
              <a:buNone/>
              <a:defRPr sz="3300" b="1">
                <a:solidFill>
                  <a:srgbClr val="BC5100"/>
                </a:solidFill>
                <a:latin typeface="Heiti TC"/>
                <a:ea typeface="Heiti TC"/>
                <a:cs typeface="Heiti TC"/>
              </a:defRPr>
            </a:pPr>
            <a:r>
              <a:rPr sz="3300" b="1">
                <a:solidFill>
                  <a:srgbClr val="BC5100"/>
                </a:solidFill>
                <a:latin typeface="Heiti TC"/>
                <a:ea typeface="Heiti TC"/>
                <a:cs typeface="Heiti TC"/>
              </a:rPr>
              <a:t>AI 识别完成情况</a:t>
            </a:r>
          </a:p>
          <a:p xmlns:a="http://schemas.openxmlformats.org/drawingml/2006/main">
            <a:pPr>
              <a:buNone/>
              <a:defRPr sz="3300" b="1">
                <a:solidFill>
                  <a:srgbClr val="BC5100"/>
                </a:solidFill>
                <a:latin typeface="Heiti TC"/>
                <a:ea typeface="Heiti TC"/>
                <a:cs typeface="Heiti TC"/>
              </a:defRPr>
            </a:pPr>
            <a:r>
              <a:rPr sz="3300" b="1">
                <a:solidFill>
                  <a:srgbClr val="BC5100"/>
                </a:solidFill>
                <a:latin typeface="Heiti TC"/>
                <a:ea typeface="Heiti TC"/>
                <a:cs typeface="Heiti TC"/>
              </a:rPr>
              <a:t>桌宠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803D8F-0DAE-4AA3-A71A-0DC807539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534150"/>
            <a:ext cx="6858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00" b="0">
                <a:solidFill>
                  <a:srgbClr val="202324"/>
                </a:solidFill>
                <a:latin typeface="Heiti TC"/>
                <a:ea typeface="Heiti TC"/>
                <a:cs typeface="Heiti TC"/>
              </a:defRPr>
            </a:pPr>
            <a:r>
              <a:rPr sz="2700" b="0">
                <a:solidFill>
                  <a:srgbClr val="202324"/>
                </a:solidFill>
                <a:latin typeface="Heiti TC"/>
                <a:ea typeface="Heiti TC"/>
                <a:cs typeface="Heiti TC"/>
              </a:rPr>
              <a:t>把分散的工作记录</a:t>
            </a:r>
          </a:p>
          <a:p xmlns:a="http://schemas.openxmlformats.org/drawingml/2006/main">
            <a:pPr>
              <a:buNone/>
              <a:defRPr sz="2700" b="0">
                <a:solidFill>
                  <a:srgbClr val="202324"/>
                </a:solidFill>
                <a:latin typeface="Heiti TC"/>
                <a:ea typeface="Heiti TC"/>
                <a:cs typeface="Heiti TC"/>
              </a:defRPr>
            </a:pPr>
            <a:r>
              <a:rPr sz="2700" b="0">
                <a:solidFill>
                  <a:srgbClr val="202324"/>
                </a:solidFill>
                <a:latin typeface="Heiti TC"/>
                <a:ea typeface="Heiti TC"/>
                <a:cs typeface="Heiti TC"/>
              </a:rPr>
              <a:t>变成桌面上看得见的跟进</a:t>
            </a:r>
          </a:p>
        </p:txBody>
      </p:sp>
    </p:spTree>
    <p:extLst>
      <p:ext uri="{BB962C8B-B14F-4D97-AF65-F5344CB8AC3E}">
        <p14:creationId xmlns:p14="http://schemas.microsoft.com/office/powerpoint/2010/main" val="70495710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32D9E0-227D-4A2A-9B8C-FC75CC847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7700"/>
            <a:ext cx="13716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4500" b="1">
                <a:solidFill>
                  <a:srgbClr val="202324"/>
                </a:solidFill>
                <a:latin typeface="Heiti TC"/>
                <a:ea typeface="Heiti TC"/>
                <a:cs typeface="Heiti TC"/>
              </a:defRPr>
            </a:pPr>
            <a:r>
              <a:rPr sz="4500" b="1">
                <a:solidFill>
                  <a:srgbClr val="202324"/>
                </a:solidFill>
                <a:latin typeface="Heiti TC"/>
                <a:ea typeface="Heiti TC"/>
                <a:cs typeface="Heiti TC"/>
              </a:rPr>
              <a:t>一件事，散落在多个工具里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219A0A-DEAD-46AE-8B8F-221AE6E2E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33600"/>
            <a:ext cx="2095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777B7D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777B7D"/>
                </a:solidFill>
                <a:latin typeface="Heiti TC"/>
                <a:ea typeface="Heiti TC"/>
                <a:cs typeface="Heiti TC"/>
              </a:rPr>
              <a:t>飞书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CC3E1B-0BC2-49B4-96D2-8A04B9758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057400"/>
            <a:ext cx="11144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750" b="1">
                <a:solidFill>
                  <a:srgbClr val="202324"/>
                </a:solidFill>
                <a:latin typeface="Heiti TC"/>
                <a:ea typeface="Heiti TC"/>
                <a:cs typeface="Heiti TC"/>
              </a:defRPr>
            </a:pPr>
            <a:r>
              <a:rPr sz="3750" b="1">
                <a:solidFill>
                  <a:srgbClr val="202324"/>
                </a:solidFill>
                <a:latin typeface="Heiti TC"/>
                <a:ea typeface="Heiti TC"/>
                <a:cs typeface="Heiti TC"/>
              </a:rPr>
              <a:t>提出需求与时间要求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85E8D5-DC6A-4EC2-B8C5-1951DA924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09950"/>
            <a:ext cx="2571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777B7D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777B7D"/>
                </a:solidFill>
                <a:latin typeface="Heiti TC"/>
                <a:ea typeface="Heiti TC"/>
                <a:cs typeface="Heiti TC"/>
              </a:rPr>
              <a:t>编程 Agent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D87CB8-E9ED-44CD-8645-583A2C97F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33375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450" b="1">
                <a:solidFill>
                  <a:srgbClr val="202324"/>
                </a:solidFill>
                <a:latin typeface="Heiti TC"/>
                <a:ea typeface="Heiti TC"/>
                <a:cs typeface="Heiti TC"/>
              </a:defRPr>
            </a:pPr>
            <a:r>
              <a:rPr sz="3450" b="1">
                <a:solidFill>
                  <a:srgbClr val="202324"/>
                </a:solidFill>
                <a:latin typeface="Heiti TC"/>
                <a:ea typeface="Heiti TC"/>
                <a:cs typeface="Heiti TC"/>
              </a:rPr>
              <a:t>补充约束、反馈修改与测试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4B9C4C-589C-4C9D-BEC4-223692C54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67250"/>
            <a:ext cx="2095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777B7D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777B7D"/>
                </a:solidFill>
                <a:latin typeface="Heiti TC"/>
                <a:ea typeface="Heiti TC"/>
                <a:cs typeface="Heiti TC"/>
              </a:rPr>
              <a:t>GitHub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891876-E1B6-43A9-8A68-5F52947C0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591050"/>
            <a:ext cx="11239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202324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202324"/>
                </a:solidFill>
                <a:latin typeface="Heiti TC"/>
                <a:ea typeface="Heiti TC"/>
                <a:cs typeface="Heiti TC"/>
              </a:rPr>
              <a:t>提交 PR，等待评审与验收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A73232-3D93-42F3-AB91-D5A96882F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74370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4800" b="1">
                <a:solidFill>
                  <a:srgbClr val="FF812B"/>
                </a:solidFill>
                <a:latin typeface="Heiti TC"/>
                <a:ea typeface="Heiti TC"/>
                <a:cs typeface="Heiti TC"/>
              </a:defRPr>
            </a:pPr>
            <a:r>
              <a:rPr sz="4800" b="1">
                <a:solidFill>
                  <a:srgbClr val="FF812B"/>
                </a:solidFill>
                <a:latin typeface="Heiti TC"/>
                <a:ea typeface="Heiti TC"/>
                <a:cs typeface="Heiti TC"/>
              </a:rPr>
              <a:t>记录很多，任务到底完成了吗？</a:t>
            </a:r>
          </a:p>
        </p:txBody>
      </p:sp>
    </p:spTree>
    <p:extLst>
      <p:ext uri="{BB962C8B-B14F-4D97-AF65-F5344CB8AC3E}">
        <p14:creationId xmlns:p14="http://schemas.microsoft.com/office/powerpoint/2010/main" val="45120308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517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369D0E-3620-4DE9-95C1-159E7E948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7700"/>
            <a:ext cx="13716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4500" b="1">
                <a:solidFill>
                  <a:srgbClr val="FAF8F4"/>
                </a:solidFill>
                <a:latin typeface="Heiti TC"/>
                <a:ea typeface="Heiti TC"/>
                <a:cs typeface="Heiti TC"/>
              </a:defRPr>
            </a:pPr>
            <a:r>
              <a:rPr sz="4500" b="1">
                <a:solidFill>
                  <a:srgbClr val="FAF8F4"/>
                </a:solidFill>
                <a:latin typeface="Heiti TC"/>
                <a:ea typeface="Heiti TC"/>
                <a:cs typeface="Heiti TC"/>
              </a:rPr>
              <a:t>BUGU 的三大件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3D811B-7616-47DE-90BC-900EACC4E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43125"/>
            <a:ext cx="1809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5100" b="1">
                <a:solidFill>
                  <a:srgbClr val="FF812B"/>
                </a:solidFill>
                <a:latin typeface="Heiti TC"/>
                <a:ea typeface="Heiti TC"/>
                <a:cs typeface="Heiti TC"/>
              </a:defRPr>
            </a:pPr>
            <a:r>
              <a:rPr sz="5100" b="1">
                <a:solidFill>
                  <a:srgbClr val="FF812B"/>
                </a:solidFill>
                <a:latin typeface="Heiti TC"/>
                <a:ea typeface="Heiti TC"/>
                <a:cs typeface="Heiti TC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0FFAED-F4C2-4F89-A476-EF2A47EFD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143125"/>
            <a:ext cx="1143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5250" b="1">
                <a:solidFill>
                  <a:srgbClr val="FAF8F4"/>
                </a:solidFill>
                <a:latin typeface="Heiti TC"/>
                <a:ea typeface="Heiti TC"/>
                <a:cs typeface="Heiti TC"/>
              </a:defRPr>
            </a:pPr>
            <a:r>
              <a:rPr sz="5250" b="1">
                <a:solidFill>
                  <a:srgbClr val="FAF8F4"/>
                </a:solidFill>
                <a:latin typeface="Heiti TC"/>
                <a:ea typeface="Heiti TC"/>
                <a:cs typeface="Heiti TC"/>
              </a:rPr>
              <a:t>多信源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4A00E8-1467-47E7-93A2-734063BE6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143250"/>
            <a:ext cx="11430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B6B8B5"/>
                </a:solidFill>
                <a:latin typeface="Heiti TC"/>
                <a:ea typeface="Heiti TC"/>
                <a:cs typeface="Heiti TC"/>
              </a:defRPr>
            </a:pPr>
            <a:r>
              <a:rPr sz="2550" b="0">
                <a:solidFill>
                  <a:srgbClr val="B6B8B5"/>
                </a:solidFill>
                <a:latin typeface="Heiti TC"/>
                <a:ea typeface="Heiti TC"/>
                <a:cs typeface="Heiti TC"/>
              </a:rPr>
              <a:t>插件连接工作发生的地方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24C1EF-96B1-4CFB-9963-01572CFBF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43375"/>
            <a:ext cx="1809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5100" b="1">
                <a:solidFill>
                  <a:srgbClr val="FF812B"/>
                </a:solidFill>
                <a:latin typeface="Heiti TC"/>
                <a:ea typeface="Heiti TC"/>
                <a:cs typeface="Heiti TC"/>
              </a:defRPr>
            </a:pPr>
            <a:r>
              <a:rPr sz="5100" b="1">
                <a:solidFill>
                  <a:srgbClr val="FF812B"/>
                </a:solidFill>
                <a:latin typeface="Heiti TC"/>
                <a:ea typeface="Heiti TC"/>
                <a:cs typeface="Heiti TC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ADC458-615E-43C6-B85D-77C77453F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4143375"/>
            <a:ext cx="11906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4800" b="1">
                <a:solidFill>
                  <a:srgbClr val="FAF8F4"/>
                </a:solidFill>
                <a:latin typeface="Heiti TC"/>
                <a:ea typeface="Heiti TC"/>
                <a:cs typeface="Heiti TC"/>
              </a:defRPr>
            </a:pPr>
            <a:r>
              <a:rPr sz="4800" b="1">
                <a:solidFill>
                  <a:srgbClr val="FAF8F4"/>
                </a:solidFill>
                <a:latin typeface="Heiti TC"/>
                <a:ea typeface="Heiti TC"/>
                <a:cs typeface="Heiti TC"/>
              </a:rPr>
              <a:t>AI 识别任务完成情况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955CC4-DC88-47A8-800A-1957A8434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5143500"/>
            <a:ext cx="11430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B6B8B5"/>
                </a:solidFill>
                <a:latin typeface="Heiti TC"/>
                <a:ea typeface="Heiti TC"/>
                <a:cs typeface="Heiti TC"/>
              </a:defRPr>
            </a:pPr>
            <a:r>
              <a:rPr sz="2550" b="0">
                <a:solidFill>
                  <a:srgbClr val="B6B8B5"/>
                </a:solidFill>
                <a:latin typeface="Heiti TC"/>
                <a:ea typeface="Heiti TC"/>
                <a:cs typeface="Heiti TC"/>
              </a:rPr>
              <a:t>理解需求、后续补充、交付与验收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6205E1-C2A9-4F4F-A25E-9505F9723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143625"/>
            <a:ext cx="1809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5100" b="1">
                <a:solidFill>
                  <a:srgbClr val="FF812B"/>
                </a:solidFill>
                <a:latin typeface="Heiti TC"/>
                <a:ea typeface="Heiti TC"/>
                <a:cs typeface="Heiti TC"/>
              </a:defRPr>
            </a:pPr>
            <a:r>
              <a:rPr sz="5100" b="1">
                <a:solidFill>
                  <a:srgbClr val="FF812B"/>
                </a:solidFill>
                <a:latin typeface="Heiti TC"/>
                <a:ea typeface="Heiti TC"/>
                <a:cs typeface="Heiti TC"/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06230D-4F9C-4F5F-B63C-E8D0E7466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6143625"/>
            <a:ext cx="1143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5250" b="1">
                <a:solidFill>
                  <a:srgbClr val="FAF8F4"/>
                </a:solidFill>
                <a:latin typeface="Heiti TC"/>
                <a:ea typeface="Heiti TC"/>
                <a:cs typeface="Heiti TC"/>
              </a:defRPr>
            </a:pPr>
            <a:r>
              <a:rPr sz="5250" b="1">
                <a:solidFill>
                  <a:srgbClr val="FAF8F4"/>
                </a:solidFill>
                <a:latin typeface="Heiti TC"/>
                <a:ea typeface="Heiti TC"/>
                <a:cs typeface="Heiti TC"/>
              </a:rPr>
              <a:t>桌宠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1CB7FC-5B1B-40E1-AFD7-8872B06D1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7143750"/>
            <a:ext cx="11430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B6B8B5"/>
                </a:solidFill>
                <a:latin typeface="Heiti TC"/>
                <a:ea typeface="Heiti TC"/>
                <a:cs typeface="Heiti TC"/>
              </a:defRPr>
            </a:pPr>
            <a:r>
              <a:rPr sz="2550" b="0">
                <a:solidFill>
                  <a:srgbClr val="B6B8B5"/>
                </a:solidFill>
                <a:latin typeface="Heiti TC"/>
                <a:ea typeface="Heiti TC"/>
                <a:cs typeface="Heiti TC"/>
              </a:rPr>
              <a:t>让跟进有一个桌面陪伴入口</a:t>
            </a:r>
          </a:p>
        </p:txBody>
      </p:sp>
    </p:spTree>
    <p:extLst>
      <p:ext uri="{BB962C8B-B14F-4D97-AF65-F5344CB8AC3E}">
        <p14:creationId xmlns:p14="http://schemas.microsoft.com/office/powerpoint/2010/main" val="167553501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3A4591-172D-47B5-A86E-AF1CB70CC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2667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6450" b="1">
                <a:solidFill>
                  <a:srgbClr val="FF812B"/>
                </a:solidFill>
                <a:latin typeface="Heiti TC"/>
                <a:ea typeface="Heiti TC"/>
                <a:cs typeface="Heiti TC"/>
              </a:defRPr>
            </a:pPr>
            <a:r>
              <a:rPr sz="6450" b="1">
                <a:solidFill>
                  <a:srgbClr val="FF812B"/>
                </a:solidFill>
                <a:latin typeface="Heiti TC"/>
                <a:ea typeface="Heiti TC"/>
                <a:cs typeface="Heiti TC"/>
              </a:rPr>
              <a:t>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AA3772-417B-4012-AF52-C3DEEA360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52650"/>
            <a:ext cx="4191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4800" b="1">
                <a:solidFill>
                  <a:srgbClr val="202324"/>
                </a:solidFill>
                <a:latin typeface="Heiti TC"/>
                <a:ea typeface="Heiti TC"/>
                <a:cs typeface="Heiti TC"/>
              </a:defRPr>
            </a:pPr>
            <a:r>
              <a:rPr sz="4800" b="1">
                <a:solidFill>
                  <a:srgbClr val="202324"/>
                </a:solidFill>
                <a:latin typeface="Heiti TC"/>
                <a:ea typeface="Heiti TC"/>
                <a:cs typeface="Heiti TC"/>
              </a:rPr>
              <a:t>多信源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B8A12F-BEC6-40AA-B6FE-E94F77EF8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29050"/>
            <a:ext cx="4000500" cy="1857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202324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202324"/>
                </a:solidFill>
                <a:latin typeface="Heiti TC"/>
                <a:ea typeface="Heiti TC"/>
                <a:cs typeface="Heiti TC"/>
              </a:rPr>
              <a:t>飞书与 GitHub</a:t>
            </a:r>
          </a:p>
          <a:p xmlns:a="http://schemas.openxmlformats.org/drawingml/2006/main">
            <a:pPr>
              <a:buNone/>
              <a:defRPr sz="2400" b="0">
                <a:solidFill>
                  <a:srgbClr val="202324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202324"/>
                </a:solidFill>
                <a:latin typeface="Heiti TC"/>
                <a:ea typeface="Heiti TC"/>
                <a:cs typeface="Heiti TC"/>
              </a:rPr>
              <a:t>本机 Agent 会话</a:t>
            </a:r>
          </a:p>
          <a:p xmlns:a="http://schemas.openxmlformats.org/drawingml/2006/main">
            <a:pPr>
              <a:buNone/>
              <a:defRPr sz="2400" b="0">
                <a:solidFill>
                  <a:srgbClr val="202324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202324"/>
                </a:solidFill>
                <a:latin typeface="Heiti TC"/>
                <a:ea typeface="Heiti TC"/>
                <a:cs typeface="Heiti TC"/>
              </a:rPr>
              <a:t>本地工作记录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FB13E3-1234-4B9F-81A0-9501405E3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572250"/>
            <a:ext cx="3905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777B7D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777B7D"/>
                </a:solidFill>
                <a:latin typeface="Heiti TC"/>
                <a:ea typeface="Heiti TC"/>
                <a:cs typeface="Heiti TC"/>
              </a:rPr>
              <a:t>按来源授权</a:t>
            </a:r>
          </a:p>
          <a:p xmlns:a="http://schemas.openxmlformats.org/drawingml/2006/main">
            <a:pPr>
              <a:buNone/>
              <a:defRPr sz="2400" b="0">
                <a:solidFill>
                  <a:srgbClr val="777B7D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777B7D"/>
                </a:solidFill>
                <a:latin typeface="Heiti TC"/>
                <a:ea typeface="Heiti TC"/>
                <a:cs typeface="Heiti TC"/>
              </a:rPr>
              <a:t>继续使用原有工具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b11863c98640e5"/>
          <a:stretch xmlns:a="http://schemas.openxmlformats.org/drawingml/2006/main"/>
        </p:blipFill>
        <p:spPr>
          <a:xfrm xmlns:a="http://schemas.openxmlformats.org/drawingml/2006/main">
            <a:off x="4667783" y="842653"/>
            <a:ext cx="10000183" cy="683004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797858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517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490D1F-99F9-4EB7-BAA6-D71CDA0A9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85800"/>
            <a:ext cx="2667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6450" b="1">
                <a:solidFill>
                  <a:srgbClr val="FF812B"/>
                </a:solidFill>
                <a:latin typeface="Heiti TC"/>
                <a:ea typeface="Heiti TC"/>
                <a:cs typeface="Heiti TC"/>
              </a:defRPr>
            </a:pPr>
            <a:r>
              <a:rPr sz="6450" b="1">
                <a:solidFill>
                  <a:srgbClr val="FF812B"/>
                </a:solidFill>
                <a:latin typeface="Heiti TC"/>
                <a:ea typeface="Heiti TC"/>
                <a:cs typeface="Heiti TC"/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CAC14B-7377-421B-8023-E58000E36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76450"/>
            <a:ext cx="4191000" cy="18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4500" b="1">
                <a:solidFill>
                  <a:srgbClr val="FAF8F4"/>
                </a:solidFill>
                <a:latin typeface="Heiti TC"/>
                <a:ea typeface="Heiti TC"/>
                <a:cs typeface="Heiti TC"/>
              </a:defRPr>
            </a:pPr>
            <a:r>
              <a:rPr sz="4500" b="1">
                <a:solidFill>
                  <a:srgbClr val="FAF8F4"/>
                </a:solidFill>
                <a:latin typeface="Heiti TC"/>
                <a:ea typeface="Heiti TC"/>
                <a:cs typeface="Heiti TC"/>
              </a:rPr>
              <a:t>AI 识别</a:t>
            </a:r>
          </a:p>
          <a:p xmlns:a="http://schemas.openxmlformats.org/drawingml/2006/main">
            <a:pPr>
              <a:buNone/>
              <a:defRPr sz="4500" b="1">
                <a:solidFill>
                  <a:srgbClr val="FAF8F4"/>
                </a:solidFill>
                <a:latin typeface="Heiti TC"/>
                <a:ea typeface="Heiti TC"/>
                <a:cs typeface="Heiti TC"/>
              </a:defRPr>
            </a:pPr>
            <a:r>
              <a:rPr sz="4500" b="1">
                <a:solidFill>
                  <a:srgbClr val="FAF8F4"/>
                </a:solidFill>
                <a:latin typeface="Heiti TC"/>
                <a:ea typeface="Heiti TC"/>
                <a:cs typeface="Heiti TC"/>
              </a:rPr>
              <a:t>完成情况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110ABA-C29D-4C44-8320-8C9D441C6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67250"/>
            <a:ext cx="4000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B6B8B5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B6B8B5"/>
                </a:solidFill>
                <a:latin typeface="Heiti TC"/>
                <a:ea typeface="Heiti TC"/>
                <a:cs typeface="Heiti TC"/>
              </a:rPr>
              <a:t>需求有没有满足？</a:t>
            </a:r>
          </a:p>
          <a:p xmlns:a="http://schemas.openxmlformats.org/drawingml/2006/main">
            <a:pPr>
              <a:buNone/>
              <a:defRPr sz="2250" b="0">
                <a:solidFill>
                  <a:srgbClr val="B6B8B5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B6B8B5"/>
                </a:solidFill>
                <a:latin typeface="Heiti TC"/>
                <a:ea typeface="Heiti TC"/>
                <a:cs typeface="Heiti TC"/>
              </a:rPr>
              <a:t>补充条件有没有覆盖？</a:t>
            </a:r>
          </a:p>
          <a:p xmlns:a="http://schemas.openxmlformats.org/drawingml/2006/main">
            <a:pPr>
              <a:buNone/>
              <a:defRPr sz="2250" b="0">
                <a:solidFill>
                  <a:srgbClr val="B6B8B5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B6B8B5"/>
                </a:solidFill>
                <a:latin typeface="Heiti TC"/>
                <a:ea typeface="Heiti TC"/>
                <a:cs typeface="Heiti TC"/>
              </a:rPr>
              <a:t>交付后是否已验收？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F6A1CE-8105-484E-933A-F722FBF97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93420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FF812B"/>
                </a:solidFill>
                <a:latin typeface="Heiti TC"/>
                <a:ea typeface="Heiti TC"/>
                <a:cs typeface="Heiti TC"/>
              </a:defRPr>
            </a:pPr>
            <a:r>
              <a:rPr sz="2400" b="1">
                <a:solidFill>
                  <a:srgbClr val="FF812B"/>
                </a:solidFill>
                <a:latin typeface="Heiti TC"/>
                <a:ea typeface="Heiti TC"/>
                <a:cs typeface="Heiti TC"/>
              </a:rPr>
              <a:t>本例：已交付</a:t>
            </a:r>
          </a:p>
          <a:p xmlns:a="http://schemas.openxmlformats.org/drawingml/2006/main">
            <a:pPr>
              <a:buNone/>
              <a:defRPr sz="2400" b="1">
                <a:solidFill>
                  <a:srgbClr val="FF812B"/>
                </a:solidFill>
                <a:latin typeface="Heiti TC"/>
                <a:ea typeface="Heiti TC"/>
                <a:cs typeface="Heiti TC"/>
              </a:defRPr>
            </a:pPr>
            <a:r>
              <a:rPr sz="2400" b="1">
                <a:solidFill>
                  <a:srgbClr val="FF812B"/>
                </a:solidFill>
                <a:latin typeface="Heiti TC"/>
                <a:ea typeface="Heiti TC"/>
                <a:cs typeface="Heiti TC"/>
              </a:rPr>
              <a:t>仍待用户验收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0c2b0605cf415c"/>
          <a:stretch xmlns:a="http://schemas.openxmlformats.org/drawingml/2006/main"/>
        </p:blipFill>
        <p:spPr>
          <a:xfrm xmlns:a="http://schemas.openxmlformats.org/drawingml/2006/main">
            <a:off x="4667783" y="823603"/>
            <a:ext cx="10000183" cy="683004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204430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81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9AB76E-D018-42A9-A59E-5C3B503E5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143000"/>
            <a:ext cx="13716000" cy="2781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7950" b="1">
                <a:solidFill>
                  <a:srgbClr val="202324"/>
                </a:solidFill>
                <a:latin typeface="Heiti TC"/>
                <a:ea typeface="Heiti TC"/>
                <a:cs typeface="Heiti TC"/>
              </a:defRPr>
            </a:pPr>
            <a:r>
              <a:rPr sz="7950" b="1">
                <a:solidFill>
                  <a:srgbClr val="202324"/>
                </a:solidFill>
                <a:latin typeface="Heiti TC"/>
                <a:ea typeface="Heiti TC"/>
                <a:cs typeface="Heiti TC"/>
              </a:rPr>
              <a:t>“已提交”</a:t>
            </a:r>
          </a:p>
          <a:p xmlns:a="http://schemas.openxmlformats.org/drawingml/2006/main">
            <a:pPr>
              <a:buNone/>
              <a:defRPr sz="7950" b="1">
                <a:solidFill>
                  <a:srgbClr val="202324"/>
                </a:solidFill>
                <a:latin typeface="Heiti TC"/>
                <a:ea typeface="Heiti TC"/>
                <a:cs typeface="Heiti TC"/>
              </a:defRPr>
            </a:pPr>
            <a:r>
              <a:rPr sz="7950" b="1">
                <a:solidFill>
                  <a:srgbClr val="202324"/>
                </a:solidFill>
                <a:latin typeface="Heiti TC"/>
                <a:ea typeface="Heiti TC"/>
                <a:cs typeface="Heiti TC"/>
              </a:rPr>
              <a:t>不等于“已完成”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5936F7-7F8D-4496-A969-CC7EB5A1E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19650"/>
            <a:ext cx="13716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202324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202324"/>
                </a:solidFill>
                <a:latin typeface="Heiti TC"/>
                <a:ea typeface="Heiti TC"/>
                <a:cs typeface="Heiti TC"/>
              </a:rPr>
              <a:t>AI 判断进展，也检查完成依据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AD2F19-E8D9-48A0-9586-6E01A5C41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096000"/>
            <a:ext cx="13716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150" b="0">
                <a:solidFill>
                  <a:srgbClr val="202324"/>
                </a:solidFill>
                <a:latin typeface="Heiti TC"/>
                <a:ea typeface="Heiti TC"/>
                <a:cs typeface="Heiti TC"/>
              </a:defRPr>
            </a:pPr>
            <a:r>
              <a:rPr sz="3150" b="0">
                <a:solidFill>
                  <a:srgbClr val="202324"/>
                </a:solidFill>
                <a:latin typeface="Heiti TC"/>
                <a:ea typeface="Heiti TC"/>
                <a:cs typeface="Heiti TC"/>
              </a:rPr>
              <a:t>需求提出 → 推进中 → 已交付 → 用户验收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D0DABC-A043-4CE9-A485-0DDC62B10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315200"/>
            <a:ext cx="1371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202324"/>
                </a:solidFill>
                <a:latin typeface="Heiti TC"/>
                <a:ea typeface="Heiti TC"/>
                <a:cs typeface="Heiti TC"/>
              </a:defRPr>
            </a:pPr>
            <a:r>
              <a:rPr sz="2550" b="0">
                <a:solidFill>
                  <a:srgbClr val="202324"/>
                </a:solidFill>
                <a:latin typeface="Heiti TC"/>
                <a:ea typeface="Heiti TC"/>
                <a:cs typeface="Heiti TC"/>
              </a:rPr>
              <a:t>原文可复核，最终状态由用户确认</a:t>
            </a:r>
          </a:p>
        </p:txBody>
      </p:sp>
    </p:spTree>
    <p:extLst>
      <p:ext uri="{BB962C8B-B14F-4D97-AF65-F5344CB8AC3E}">
        <p14:creationId xmlns:p14="http://schemas.microsoft.com/office/powerpoint/2010/main" val="204612022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8FAD93-6C38-45CA-ACB6-F76FCD09A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9150"/>
            <a:ext cx="4000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FF812B"/>
                </a:solidFill>
                <a:latin typeface="Heiti TC"/>
                <a:ea typeface="Heiti TC"/>
                <a:cs typeface="Heiti TC"/>
              </a:defRPr>
            </a:pPr>
            <a:r>
              <a:rPr sz="3150" b="1">
                <a:solidFill>
                  <a:srgbClr val="FF812B"/>
                </a:solidFill>
                <a:latin typeface="Heiti TC"/>
                <a:ea typeface="Heiti TC"/>
                <a:cs typeface="Heiti TC"/>
              </a:rPr>
              <a:t>AI 的延伸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A71C6B-AD70-4FF2-AD11-CCB7D70D5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33600"/>
            <a:ext cx="4191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4050" b="1">
                <a:solidFill>
                  <a:srgbClr val="202324"/>
                </a:solidFill>
                <a:latin typeface="Heiti TC"/>
                <a:ea typeface="Heiti TC"/>
                <a:cs typeface="Heiti TC"/>
              </a:defRPr>
            </a:pPr>
            <a:r>
              <a:rPr sz="4050" b="1">
                <a:solidFill>
                  <a:srgbClr val="202324"/>
                </a:solidFill>
                <a:latin typeface="Heiti TC"/>
                <a:ea typeface="Heiti TC"/>
                <a:cs typeface="Heiti TC"/>
              </a:rPr>
              <a:t>直接聊</a:t>
            </a:r>
          </a:p>
          <a:p xmlns:a="http://schemas.openxmlformats.org/drawingml/2006/main">
            <a:pPr>
              <a:buNone/>
              <a:defRPr sz="4050" b="1">
                <a:solidFill>
                  <a:srgbClr val="202324"/>
                </a:solidFill>
                <a:latin typeface="Heiti TC"/>
                <a:ea typeface="Heiti TC"/>
                <a:cs typeface="Heiti TC"/>
              </a:defRPr>
            </a:pPr>
            <a:r>
              <a:rPr sz="4050" b="1">
                <a:solidFill>
                  <a:srgbClr val="202324"/>
                </a:solidFill>
                <a:latin typeface="Heiti TC"/>
                <a:ea typeface="Heiti TC"/>
                <a:cs typeface="Heiti TC"/>
              </a:rPr>
              <a:t>就能管理任务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F0FDB1-F747-4525-9198-95520BB07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91050"/>
            <a:ext cx="40005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202324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202324"/>
                </a:solidFill>
                <a:latin typeface="Heiti TC"/>
                <a:ea typeface="Heiti TC"/>
                <a:cs typeface="Heiti TC"/>
              </a:rPr>
              <a:t>查询、新增与修改</a:t>
            </a:r>
          </a:p>
          <a:p xmlns:a="http://schemas.openxmlformats.org/drawingml/2006/main">
            <a:pPr>
              <a:buNone/>
              <a:defRPr sz="2400" b="0">
                <a:solidFill>
                  <a:srgbClr val="202324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202324"/>
                </a:solidFill>
                <a:latin typeface="Heiti TC"/>
                <a:ea typeface="Heiti TC"/>
                <a:cs typeface="Heiti TC"/>
              </a:rPr>
              <a:t>删除后也能恢复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59D6CF-B530-49E8-8D97-32786CABF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781800"/>
            <a:ext cx="4000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777B7D"/>
                </a:solidFill>
                <a:latin typeface="Heiti TC"/>
                <a:ea typeface="Heiti TC"/>
                <a:cs typeface="Heiti TC"/>
              </a:defRPr>
            </a:pPr>
            <a:r>
              <a:rPr sz="2550" b="0">
                <a:solidFill>
                  <a:srgbClr val="777B7D"/>
                </a:solidFill>
                <a:latin typeface="Heiti TC"/>
                <a:ea typeface="Heiti TC"/>
                <a:cs typeface="Heiti TC"/>
              </a:rPr>
              <a:t>变更先预览</a:t>
            </a:r>
          </a:p>
          <a:p xmlns:a="http://schemas.openxmlformats.org/drawingml/2006/main">
            <a:pPr>
              <a:buNone/>
              <a:defRPr sz="2550" b="0">
                <a:solidFill>
                  <a:srgbClr val="777B7D"/>
                </a:solidFill>
                <a:latin typeface="Heiti TC"/>
                <a:ea typeface="Heiti TC"/>
                <a:cs typeface="Heiti TC"/>
              </a:defRPr>
            </a:pPr>
            <a:r>
              <a:rPr sz="2550" b="0">
                <a:solidFill>
                  <a:srgbClr val="777B7D"/>
                </a:solidFill>
                <a:latin typeface="Heiti TC"/>
                <a:ea typeface="Heiti TC"/>
                <a:cs typeface="Heiti TC"/>
              </a:rPr>
              <a:t>确认后生效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4ae00c045f49ac"/>
          <a:stretch xmlns:a="http://schemas.openxmlformats.org/drawingml/2006/main"/>
        </p:blipFill>
        <p:spPr>
          <a:xfrm xmlns:a="http://schemas.openxmlformats.org/drawingml/2006/main">
            <a:off x="4667783" y="823603"/>
            <a:ext cx="10000183" cy="683004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533207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517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13E188-7402-41F5-89E6-A6F4FC360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23900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6600" b="1">
                <a:solidFill>
                  <a:srgbClr val="FF812B"/>
                </a:solidFill>
                <a:latin typeface="Heiti TC"/>
                <a:ea typeface="Heiti TC"/>
                <a:cs typeface="Heiti TC"/>
              </a:defRPr>
            </a:pPr>
            <a:r>
              <a:rPr sz="6600" b="1">
                <a:solidFill>
                  <a:srgbClr val="FF812B"/>
                </a:solidFill>
                <a:latin typeface="Heiti TC"/>
                <a:ea typeface="Heiti TC"/>
                <a:cs typeface="Heiti TC"/>
              </a:rPr>
              <a:t>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C3FC2B-ACF6-44C5-9A4D-10258DBF2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86000"/>
            <a:ext cx="6953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7650" b="1">
                <a:solidFill>
                  <a:srgbClr val="FAF8F4"/>
                </a:solidFill>
                <a:latin typeface="Heiti TC"/>
                <a:ea typeface="Heiti TC"/>
                <a:cs typeface="Heiti TC"/>
              </a:defRPr>
            </a:pPr>
            <a:r>
              <a:rPr sz="7650" b="1">
                <a:solidFill>
                  <a:srgbClr val="FAF8F4"/>
                </a:solidFill>
                <a:latin typeface="Heiti TC"/>
                <a:ea typeface="Heiti TC"/>
                <a:cs typeface="Heiti TC"/>
              </a:rPr>
              <a:t>桌宠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76DF08-3B0F-4FDE-A8B9-546600B4B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43375"/>
            <a:ext cx="809625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4350" b="1">
                <a:solidFill>
                  <a:srgbClr val="FAF8F4"/>
                </a:solidFill>
                <a:latin typeface="Heiti TC"/>
                <a:ea typeface="Heiti TC"/>
                <a:cs typeface="Heiti TC"/>
              </a:defRPr>
            </a:pPr>
            <a:r>
              <a:rPr sz="4350" b="1">
                <a:solidFill>
                  <a:srgbClr val="FAF8F4"/>
                </a:solidFill>
                <a:latin typeface="Heiti TC"/>
                <a:ea typeface="Heiti TC"/>
                <a:cs typeface="Heiti TC"/>
              </a:rPr>
              <a:t>工作桌面上的</a:t>
            </a:r>
          </a:p>
          <a:p xmlns:a="http://schemas.openxmlformats.org/drawingml/2006/main">
            <a:pPr>
              <a:buNone/>
              <a:defRPr sz="4350" b="1">
                <a:solidFill>
                  <a:srgbClr val="FAF8F4"/>
                </a:solidFill>
                <a:latin typeface="Heiti TC"/>
                <a:ea typeface="Heiti TC"/>
                <a:cs typeface="Heiti TC"/>
              </a:defRPr>
            </a:pPr>
            <a:r>
              <a:rPr sz="4350" b="1">
                <a:solidFill>
                  <a:srgbClr val="FAF8F4"/>
                </a:solidFill>
                <a:latin typeface="Heiti TC"/>
                <a:ea typeface="Heiti TC"/>
                <a:cs typeface="Heiti TC"/>
              </a:rPr>
              <a:t>一个陪伴入口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75ED98-1775-4661-93F7-58D66A882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591300"/>
            <a:ext cx="82867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B6B8B5"/>
                </a:solidFill>
                <a:latin typeface="Heiti TC"/>
                <a:ea typeface="Heiti TC"/>
                <a:cs typeface="Heiti TC"/>
              </a:defRPr>
            </a:pPr>
            <a:r>
              <a:rPr sz="2550" b="0">
                <a:solidFill>
                  <a:srgbClr val="B6B8B5"/>
                </a:solidFill>
                <a:latin typeface="Heiti TC"/>
                <a:ea typeface="Heiti TC"/>
                <a:cs typeface="Heiti TC"/>
              </a:rPr>
              <a:t>Live2D 驱动 · 支持导入模型</a:t>
            </a:r>
          </a:p>
          <a:p xmlns:a="http://schemas.openxmlformats.org/drawingml/2006/main">
            <a:pPr>
              <a:buNone/>
              <a:defRPr sz="2550" b="0">
                <a:solidFill>
                  <a:srgbClr val="B6B8B5"/>
                </a:solidFill>
                <a:latin typeface="Heiti TC"/>
                <a:ea typeface="Heiti TC"/>
                <a:cs typeface="Heiti TC"/>
              </a:defRPr>
            </a:pPr>
            <a:r>
              <a:rPr sz="2550" b="0">
                <a:solidFill>
                  <a:srgbClr val="B6B8B5"/>
                </a:solidFill>
                <a:latin typeface="Heiti TC"/>
                <a:ea typeface="Heiti TC"/>
                <a:cs typeface="Heiti TC"/>
              </a:rPr>
              <a:t>可拖动、缩放、置顶与隐藏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a091f5092b4932"/>
          <a:stretch xmlns:a="http://schemas.openxmlformats.org/drawingml/2006/main"/>
        </p:blipFill>
        <p:spPr>
          <a:xfrm xmlns:a="http://schemas.openxmlformats.org/drawingml/2006/main">
            <a:off x="9525907" y="1104900"/>
            <a:ext cx="4760686" cy="62484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E53775-F38A-408D-BF90-693F5FA52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7791450"/>
            <a:ext cx="5667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B6B8B5"/>
                </a:solidFill>
                <a:latin typeface="Heiti TC"/>
                <a:ea typeface="Heiti TC"/>
                <a:cs typeface="Heiti TC"/>
              </a:defRPr>
            </a:pPr>
            <a:r>
              <a:rPr sz="1650" b="0">
                <a:solidFill>
                  <a:srgbClr val="B6B8B5"/>
                </a:solidFill>
                <a:latin typeface="Heiti TC"/>
                <a:ea typeface="Heiti TC"/>
                <a:cs typeface="Heiti TC"/>
              </a:rPr>
              <a:t>桃濑日和 Hiyori · Live2D 官方示例角色</a:t>
            </a:r>
          </a:p>
        </p:txBody>
      </p:sp>
    </p:spTree>
    <p:extLst>
      <p:ext uri="{BB962C8B-B14F-4D97-AF65-F5344CB8AC3E}">
        <p14:creationId xmlns:p14="http://schemas.microsoft.com/office/powerpoint/2010/main" val="21529358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AC7356-80AC-46C5-80DB-863A5866A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7700"/>
            <a:ext cx="13716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4500" b="1">
                <a:solidFill>
                  <a:srgbClr val="202324"/>
                </a:solidFill>
                <a:latin typeface="Heiti TC"/>
                <a:ea typeface="Heiti TC"/>
                <a:cs typeface="Heiti TC"/>
              </a:defRPr>
            </a:pPr>
            <a:r>
              <a:rPr sz="4500" b="1">
                <a:solidFill>
                  <a:srgbClr val="202324"/>
                </a:solidFill>
                <a:latin typeface="Heiti TC"/>
                <a:ea typeface="Heiti TC"/>
                <a:cs typeface="Heiti TC"/>
              </a:rPr>
              <a:t>偶尔说句话，也懂得不打扰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0b7cfa0da74276"/>
          <a:stretch xmlns:a="http://schemas.openxmlformats.org/drawingml/2006/main"/>
        </p:blipFill>
        <p:spPr>
          <a:xfrm xmlns:a="http://schemas.openxmlformats.org/drawingml/2006/main">
            <a:off x="762000" y="1834410"/>
            <a:ext cx="9620250" cy="6570554"/>
          </a:xfrm>
          <a:prstGeom xmlns:a="http://schemas.openxmlformats.org/drawingml/2006/main" prst="rect">
            <a:avLst/>
          </a:prstGeom>
        </p:spPr>
      </p:pic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6e079e82f04791"/>
          <a:stretch xmlns:a="http://schemas.openxmlformats.org/drawingml/2006/main"/>
        </p:blipFill>
        <p:spPr>
          <a:xfrm xmlns:a="http://schemas.openxmlformats.org/drawingml/2006/main">
            <a:off x="11050361" y="2895600"/>
            <a:ext cx="3331029" cy="437197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FF59B7-12FB-4D56-AFEB-3FF9EAD4A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1695450"/>
            <a:ext cx="3619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777B7D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777B7D"/>
                </a:solidFill>
                <a:latin typeface="Heiti TC"/>
                <a:ea typeface="Heiti TC"/>
                <a:cs typeface="Heiti TC"/>
              </a:rPr>
              <a:t>自动话语</a:t>
            </a:r>
          </a:p>
          <a:p xmlns:a="http://schemas.openxmlformats.org/drawingml/2006/main">
            <a:pPr>
              <a:buNone/>
              <a:defRPr sz="2100" b="0">
                <a:solidFill>
                  <a:srgbClr val="777B7D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777B7D"/>
                </a:solidFill>
                <a:latin typeface="Heiti TC"/>
                <a:ea typeface="Heiti TC"/>
                <a:cs typeface="Heiti TC"/>
              </a:rPr>
              <a:t>频率与静默时段</a:t>
            </a:r>
          </a:p>
          <a:p xmlns:a="http://schemas.openxmlformats.org/drawingml/2006/main">
            <a:pPr>
              <a:buNone/>
              <a:defRPr sz="2100" b="0">
                <a:solidFill>
                  <a:srgbClr val="777B7D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777B7D"/>
                </a:solidFill>
                <a:latin typeface="Heiti TC"/>
                <a:ea typeface="Heiti TC"/>
                <a:cs typeface="Heiti TC"/>
              </a:rPr>
              <a:t>随时隐藏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9F39B9-023E-4E13-82F1-50435BAE2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7353300"/>
            <a:ext cx="371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777B7D"/>
                </a:solidFill>
                <a:latin typeface="Heiti TC"/>
                <a:ea typeface="Heiti TC"/>
                <a:cs typeface="Heiti TC"/>
              </a:defRPr>
            </a:pPr>
            <a:r>
              <a:rPr sz="1950" b="0">
                <a:solidFill>
                  <a:srgbClr val="777B7D"/>
                </a:solidFill>
                <a:latin typeface="Heiti TC"/>
                <a:ea typeface="Heiti TC"/>
                <a:cs typeface="Heiti TC"/>
              </a:rPr>
              <a:t>气泡手动预览</a:t>
            </a:r>
          </a:p>
        </p:txBody>
      </p:sp>
    </p:spTree>
    <p:extLst>
      <p:ext uri="{BB962C8B-B14F-4D97-AF65-F5344CB8AC3E}">
        <p14:creationId xmlns:p14="http://schemas.microsoft.com/office/powerpoint/2010/main" val="126983090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517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56C345-08EB-4732-9CBF-0395C13AE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7700"/>
            <a:ext cx="13716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4500" b="1">
                <a:solidFill>
                  <a:srgbClr val="FAF8F4"/>
                </a:solidFill>
                <a:latin typeface="Heiti TC"/>
                <a:ea typeface="Heiti TC"/>
                <a:cs typeface="Heiti TC"/>
              </a:defRPr>
            </a:pPr>
            <a:r>
              <a:rPr sz="4500" b="1">
                <a:solidFill>
                  <a:srgbClr val="FAF8F4"/>
                </a:solidFill>
                <a:latin typeface="Heiti TC"/>
                <a:ea typeface="Heiti TC"/>
                <a:cs typeface="Heiti TC"/>
              </a:rPr>
              <a:t>从工作记录，到桌面上的跟进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6079D2-BC5A-4955-A3F3-98DB38D98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28850"/>
            <a:ext cx="13525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4800" b="1">
                <a:solidFill>
                  <a:srgbClr val="FF812B"/>
                </a:solidFill>
                <a:latin typeface="Heiti TC"/>
                <a:ea typeface="Heiti TC"/>
                <a:cs typeface="Heiti TC"/>
              </a:defRPr>
            </a:pPr>
            <a:r>
              <a:rPr sz="4800" b="1">
                <a:solidFill>
                  <a:srgbClr val="FF812B"/>
                </a:solidFill>
                <a:latin typeface="Heiti TC"/>
                <a:ea typeface="Heiti TC"/>
                <a:cs typeface="Heiti TC"/>
              </a:rPr>
              <a:t>连接来源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89D07F-0CE5-460A-A241-A1A23872D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371725"/>
            <a:ext cx="8477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850" b="0">
                <a:solidFill>
                  <a:srgbClr val="FAF8F4"/>
                </a:solidFill>
                <a:latin typeface="Heiti TC"/>
                <a:ea typeface="Heiti TC"/>
                <a:cs typeface="Heiti TC"/>
              </a:defRPr>
            </a:pPr>
            <a:r>
              <a:rPr sz="2850" b="0">
                <a:solidFill>
                  <a:srgbClr val="FAF8F4"/>
                </a:solidFill>
                <a:latin typeface="Heiti TC"/>
                <a:ea typeface="Heiti TC"/>
                <a:cs typeface="Heiti TC"/>
              </a:rPr>
              <a:t>工作在原来的工具里继续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FE0042-202A-4BB1-9B50-E8089AA8B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00500"/>
            <a:ext cx="13525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4800" b="1">
                <a:solidFill>
                  <a:srgbClr val="FF812B"/>
                </a:solidFill>
                <a:latin typeface="Heiti TC"/>
                <a:ea typeface="Heiti TC"/>
                <a:cs typeface="Heiti TC"/>
              </a:defRPr>
            </a:pPr>
            <a:r>
              <a:rPr sz="4800" b="1">
                <a:solidFill>
                  <a:srgbClr val="FF812B"/>
                </a:solidFill>
                <a:latin typeface="Heiti TC"/>
                <a:ea typeface="Heiti TC"/>
                <a:cs typeface="Heiti TC"/>
              </a:rPr>
              <a:t>理解完成情况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78D866-400F-4A6D-8DA2-6B6C63E2A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143375"/>
            <a:ext cx="7620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00" b="0">
                <a:solidFill>
                  <a:srgbClr val="FAF8F4"/>
                </a:solidFill>
                <a:latin typeface="Heiti TC"/>
                <a:ea typeface="Heiti TC"/>
                <a:cs typeface="Heiti TC"/>
              </a:defRPr>
            </a:pPr>
            <a:r>
              <a:rPr sz="2700" b="0">
                <a:solidFill>
                  <a:srgbClr val="FAF8F4"/>
                </a:solidFill>
                <a:latin typeface="Heiti TC"/>
                <a:ea typeface="Heiti TC"/>
                <a:cs typeface="Heiti TC"/>
              </a:rPr>
              <a:t>少漏条件，知道还差哪一步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41D29D-13A9-46A1-AB47-4C94E4589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72150"/>
            <a:ext cx="13525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4800" b="1">
                <a:solidFill>
                  <a:srgbClr val="FF812B"/>
                </a:solidFill>
                <a:latin typeface="Heiti TC"/>
                <a:ea typeface="Heiti TC"/>
                <a:cs typeface="Heiti TC"/>
              </a:defRPr>
            </a:pPr>
            <a:r>
              <a:rPr sz="4800" b="1">
                <a:solidFill>
                  <a:srgbClr val="FF812B"/>
                </a:solidFill>
                <a:latin typeface="Heiti TC"/>
                <a:ea typeface="Heiti TC"/>
                <a:cs typeface="Heiti TC"/>
              </a:rPr>
              <a:t>桌宠陪伴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AA1500-8521-4D12-95BE-76F91B74A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915025"/>
            <a:ext cx="8477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850" b="0">
                <a:solidFill>
                  <a:srgbClr val="FAF8F4"/>
                </a:solidFill>
                <a:latin typeface="Heiti TC"/>
                <a:ea typeface="Heiti TC"/>
                <a:cs typeface="Heiti TC"/>
              </a:defRPr>
            </a:pPr>
            <a:r>
              <a:rPr sz="2850" b="0">
                <a:solidFill>
                  <a:srgbClr val="FAF8F4"/>
                </a:solidFill>
                <a:latin typeface="Heiti TC"/>
                <a:ea typeface="Heiti TC"/>
                <a:cs typeface="Heiti TC"/>
              </a:rPr>
              <a:t>用可控话语提醒回顾事项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82BFE6-1F68-469E-AFCA-DC18F58CC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677150"/>
            <a:ext cx="1371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B6B8B5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B6B8B5"/>
                </a:solidFill>
                <a:latin typeface="Heiti TC"/>
                <a:ea typeface="Heiti TC"/>
                <a:cs typeface="Heiti TC"/>
              </a:rPr>
              <a:t>先服务个人开发者与小团队</a:t>
            </a:r>
          </a:p>
        </p:txBody>
      </p:sp>
    </p:spTree>
    <p:extLst>
      <p:ext uri="{BB962C8B-B14F-4D97-AF65-F5344CB8AC3E}">
        <p14:creationId xmlns:p14="http://schemas.microsoft.com/office/powerpoint/2010/main" val="134836356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A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4C277B-BA97-4BE7-83D8-812045B9C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7700"/>
            <a:ext cx="13716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4500" b="1">
                <a:solidFill>
                  <a:srgbClr val="202324"/>
                </a:solidFill>
                <a:latin typeface="Heiti TC"/>
                <a:ea typeface="Heiti TC"/>
                <a:cs typeface="Heiti TC"/>
              </a:defRPr>
            </a:pPr>
            <a:r>
              <a:rPr sz="4500" b="1">
                <a:solidFill>
                  <a:srgbClr val="202324"/>
                </a:solidFill>
                <a:latin typeface="Heiti TC"/>
                <a:ea typeface="Heiti TC"/>
                <a:cs typeface="Heiti TC"/>
              </a:rPr>
              <a:t>已经能展示，接下来继续完善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E010F8-1D7B-40B0-966D-6D505A5A5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62200"/>
            <a:ext cx="647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4200" b="1">
                <a:solidFill>
                  <a:srgbClr val="FF812B"/>
                </a:solidFill>
                <a:latin typeface="Heiti TC"/>
                <a:ea typeface="Heiti TC"/>
                <a:cs typeface="Heiti TC"/>
              </a:defRPr>
            </a:pPr>
            <a:r>
              <a:rPr sz="4200" b="1">
                <a:solidFill>
                  <a:srgbClr val="FF812B"/>
                </a:solidFill>
                <a:latin typeface="Heiti TC"/>
                <a:ea typeface="Heiti TC"/>
                <a:cs typeface="Heiti TC"/>
              </a:rPr>
              <a:t>当前能力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D981D9-DCE1-4F63-9B02-919117931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95700"/>
            <a:ext cx="70485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00" b="0">
                <a:solidFill>
                  <a:srgbClr val="202324"/>
                </a:solidFill>
                <a:latin typeface="Heiti TC"/>
                <a:ea typeface="Heiti TC"/>
                <a:cs typeface="Heiti TC"/>
              </a:defRPr>
            </a:pPr>
            <a:r>
              <a:rPr sz="2700" b="0">
                <a:solidFill>
                  <a:srgbClr val="202324"/>
                </a:solidFill>
                <a:latin typeface="Heiti TC"/>
                <a:ea typeface="Heiti TC"/>
                <a:cs typeface="Heiti TC"/>
              </a:rPr>
              <a:t>插件多信源接入</a:t>
            </a:r>
          </a:p>
          <a:p xmlns:a="http://schemas.openxmlformats.org/drawingml/2006/main">
            <a:pPr>
              <a:buNone/>
              <a:defRPr sz="2700" b="0">
                <a:solidFill>
                  <a:srgbClr val="202324"/>
                </a:solidFill>
                <a:latin typeface="Heiti TC"/>
                <a:ea typeface="Heiti TC"/>
                <a:cs typeface="Heiti TC"/>
              </a:defRPr>
            </a:pPr>
            <a:r>
              <a:rPr sz="2700" b="0">
                <a:solidFill>
                  <a:srgbClr val="202324"/>
                </a:solidFill>
                <a:latin typeface="Heiti TC"/>
                <a:ea typeface="Heiti TC"/>
                <a:cs typeface="Heiti TC"/>
              </a:rPr>
              <a:t>AI 任务提取与阶段识别</a:t>
            </a:r>
          </a:p>
          <a:p xmlns:a="http://schemas.openxmlformats.org/drawingml/2006/main">
            <a:pPr>
              <a:buNone/>
              <a:defRPr sz="2700" b="0">
                <a:solidFill>
                  <a:srgbClr val="202324"/>
                </a:solidFill>
                <a:latin typeface="Heiti TC"/>
                <a:ea typeface="Heiti TC"/>
                <a:cs typeface="Heiti TC"/>
              </a:defRPr>
            </a:pPr>
            <a:r>
              <a:rPr sz="2700" b="0">
                <a:solidFill>
                  <a:srgbClr val="202324"/>
                </a:solidFill>
                <a:latin typeface="Heiti TC"/>
                <a:ea typeface="Heiti TC"/>
                <a:cs typeface="Heiti TC"/>
              </a:rPr>
              <a:t>原文复核、聊天任务管理</a:t>
            </a:r>
          </a:p>
          <a:p xmlns:a="http://schemas.openxmlformats.org/drawingml/2006/main">
            <a:pPr>
              <a:buNone/>
              <a:defRPr sz="2700" b="0">
                <a:solidFill>
                  <a:srgbClr val="202324"/>
                </a:solidFill>
                <a:latin typeface="Heiti TC"/>
                <a:ea typeface="Heiti TC"/>
                <a:cs typeface="Heiti TC"/>
              </a:defRPr>
            </a:pPr>
            <a:r>
              <a:rPr sz="2700" b="0">
                <a:solidFill>
                  <a:srgbClr val="202324"/>
                </a:solidFill>
                <a:latin typeface="Heiti TC"/>
                <a:ea typeface="Heiti TC"/>
                <a:cs typeface="Heiti TC"/>
              </a:rPr>
              <a:t>Live2D 桌宠与可控话语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82A6DC-83B9-46E1-9FC1-845795B39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362200"/>
            <a:ext cx="5810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4200" b="1">
                <a:solidFill>
                  <a:srgbClr val="202324"/>
                </a:solidFill>
                <a:latin typeface="Heiti TC"/>
                <a:ea typeface="Heiti TC"/>
                <a:cs typeface="Heiti TC"/>
              </a:defRPr>
            </a:pPr>
            <a:r>
              <a:rPr sz="4200" b="1">
                <a:solidFill>
                  <a:srgbClr val="202324"/>
                </a:solidFill>
                <a:latin typeface="Heiti TC"/>
                <a:ea typeface="Heiti TC"/>
                <a:cs typeface="Heiti TC"/>
              </a:rPr>
              <a:t>下一步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F40B05-614E-4D72-BACF-1FB455064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695700"/>
            <a:ext cx="5715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00" b="0">
                <a:solidFill>
                  <a:srgbClr val="777B7D"/>
                </a:solidFill>
                <a:latin typeface="Heiti TC"/>
                <a:ea typeface="Heiti TC"/>
                <a:cs typeface="Heiti TC"/>
              </a:defRPr>
            </a:pPr>
            <a:r>
              <a:rPr sz="2700" b="0">
                <a:solidFill>
                  <a:srgbClr val="777B7D"/>
                </a:solidFill>
                <a:latin typeface="Heiti TC"/>
                <a:ea typeface="Heiti TC"/>
                <a:cs typeface="Heiti TC"/>
              </a:rPr>
              <a:t>后台增量分析</a:t>
            </a:r>
          </a:p>
          <a:p xmlns:a="http://schemas.openxmlformats.org/drawingml/2006/main">
            <a:pPr>
              <a:buNone/>
              <a:defRPr sz="2700" b="0">
                <a:solidFill>
                  <a:srgbClr val="777B7D"/>
                </a:solidFill>
                <a:latin typeface="Heiti TC"/>
                <a:ea typeface="Heiti TC"/>
                <a:cs typeface="Heiti TC"/>
              </a:defRPr>
            </a:pPr>
            <a:r>
              <a:rPr sz="2700" b="0">
                <a:solidFill>
                  <a:srgbClr val="777B7D"/>
                </a:solidFill>
                <a:latin typeface="Heiti TC"/>
                <a:ea typeface="Heiti TC"/>
                <a:cs typeface="Heiti TC"/>
              </a:rPr>
              <a:t>跨会话、跨渠道关联</a:t>
            </a:r>
          </a:p>
          <a:p xmlns:a="http://schemas.openxmlformats.org/drawingml/2006/main">
            <a:pPr>
              <a:buNone/>
              <a:defRPr sz="2700" b="0">
                <a:solidFill>
                  <a:srgbClr val="777B7D"/>
                </a:solidFill>
                <a:latin typeface="Heiti TC"/>
                <a:ea typeface="Heiti TC"/>
                <a:cs typeface="Heiti TC"/>
              </a:defRPr>
            </a:pPr>
            <a:r>
              <a:rPr sz="2700" b="0">
                <a:solidFill>
                  <a:srgbClr val="777B7D"/>
                </a:solidFill>
                <a:latin typeface="Heiti TC"/>
                <a:ea typeface="Heiti TC"/>
                <a:cs typeface="Heiti TC"/>
              </a:rPr>
              <a:t>并发编排与中断恢复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E033C0-4477-48E3-8185-6A420F6A7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543800"/>
            <a:ext cx="13563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777B7D"/>
                </a:solidFill>
                <a:latin typeface="Heiti TC"/>
                <a:ea typeface="Heiti TC"/>
                <a:cs typeface="Heiti TC"/>
              </a:defRPr>
            </a:pPr>
            <a:r>
              <a:rPr sz="1950" b="0">
                <a:solidFill>
                  <a:srgbClr val="777B7D"/>
                </a:solidFill>
                <a:latin typeface="Heiti TC"/>
                <a:ea typeface="Heiti TC"/>
                <a:cs typeface="Heiti TC"/>
              </a:rPr>
              <a:t>当前为单来源主动分析；飞书真实租户与 API 服务联调仍待验收</a:t>
            </a:r>
          </a:p>
        </p:txBody>
      </p:sp>
    </p:spTree>
    <p:extLst>
      <p:ext uri="{BB962C8B-B14F-4D97-AF65-F5344CB8AC3E}">
        <p14:creationId xmlns:p14="http://schemas.microsoft.com/office/powerpoint/2010/main" val="74024791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A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d4b1c9a3fa4b96"/>
          <a:stretch xmlns:a="http://schemas.openxmlformats.org/drawingml/2006/main"/>
        </p:blipFill>
        <p:spPr>
          <a:xfrm xmlns:a="http://schemas.openxmlformats.org/drawingml/2006/main">
            <a:off x="8724900" y="1219200"/>
            <a:ext cx="5905500" cy="59055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AD9FD7-71DD-428E-A45E-BED11169B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71600"/>
            <a:ext cx="7620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7200" b="1">
                <a:solidFill>
                  <a:srgbClr val="202324"/>
                </a:solidFill>
                <a:latin typeface="Heiti TC"/>
                <a:ea typeface="Heiti TC"/>
                <a:cs typeface="Heiti TC"/>
              </a:defRPr>
            </a:pPr>
            <a:r>
              <a:rPr sz="7200" b="1">
                <a:solidFill>
                  <a:srgbClr val="202324"/>
                </a:solidFill>
                <a:latin typeface="Heiti TC"/>
                <a:ea typeface="Heiti TC"/>
                <a:cs typeface="Heiti TC"/>
              </a:rPr>
              <a:t>BUGU 不咕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E72608-614A-4422-8F08-2BAA3137F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71850"/>
            <a:ext cx="7620000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4500" b="1">
                <a:solidFill>
                  <a:srgbClr val="202324"/>
                </a:solidFill>
                <a:latin typeface="Heiti TC"/>
                <a:ea typeface="Heiti TC"/>
                <a:cs typeface="Heiti TC"/>
              </a:defRPr>
            </a:pPr>
            <a:r>
              <a:rPr sz="4500" b="1">
                <a:solidFill>
                  <a:srgbClr val="202324"/>
                </a:solidFill>
                <a:latin typeface="Heiti TC"/>
                <a:ea typeface="Heiti TC"/>
                <a:cs typeface="Heiti TC"/>
              </a:rPr>
              <a:t>多信源汇入</a:t>
            </a:r>
          </a:p>
          <a:p xmlns:a="http://schemas.openxmlformats.org/drawingml/2006/main">
            <a:pPr>
              <a:buNone/>
              <a:defRPr sz="4500" b="1">
                <a:solidFill>
                  <a:srgbClr val="202324"/>
                </a:solidFill>
                <a:latin typeface="Heiti TC"/>
                <a:ea typeface="Heiti TC"/>
                <a:cs typeface="Heiti TC"/>
              </a:defRPr>
            </a:pPr>
            <a:r>
              <a:rPr sz="4500" b="1">
                <a:solidFill>
                  <a:srgbClr val="202324"/>
                </a:solidFill>
                <a:latin typeface="Heiti TC"/>
                <a:ea typeface="Heiti TC"/>
                <a:cs typeface="Heiti TC"/>
              </a:rPr>
              <a:t>AI 判断进展</a:t>
            </a:r>
          </a:p>
          <a:p xmlns:a="http://schemas.openxmlformats.org/drawingml/2006/main">
            <a:pPr>
              <a:buNone/>
              <a:defRPr sz="4500" b="1">
                <a:solidFill>
                  <a:srgbClr val="202324"/>
                </a:solidFill>
                <a:latin typeface="Heiti TC"/>
                <a:ea typeface="Heiti TC"/>
                <a:cs typeface="Heiti TC"/>
              </a:defRPr>
            </a:pPr>
            <a:r>
              <a:rPr sz="4500" b="1">
                <a:solidFill>
                  <a:srgbClr val="202324"/>
                </a:solidFill>
                <a:latin typeface="Heiti TC"/>
                <a:ea typeface="Heiti TC"/>
                <a:cs typeface="Heiti TC"/>
              </a:rPr>
              <a:t>桌宠陪你跟进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DE4936-11F7-4745-A083-C3832EB64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819900"/>
            <a:ext cx="8572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BC5100"/>
                </a:solidFill>
                <a:latin typeface="Heiti TC"/>
                <a:ea typeface="Heiti TC"/>
                <a:cs typeface="Heiti TC"/>
              </a:defRPr>
            </a:pPr>
            <a:r>
              <a:rPr sz="3000" b="1">
                <a:solidFill>
                  <a:srgbClr val="BC5100"/>
                </a:solidFill>
                <a:latin typeface="Heiti TC"/>
                <a:ea typeface="Heiti TC"/>
                <a:cs typeface="Heiti TC"/>
              </a:rPr>
              <a:t>接下来，看一次实机演示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B02355-D979-4144-AF2A-999410137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791450"/>
            <a:ext cx="1143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777B7D"/>
                </a:solidFill>
                <a:latin typeface="Heiti TC"/>
                <a:ea typeface="Heiti TC"/>
                <a:cs typeface="Heiti TC"/>
              </a:defRPr>
            </a:pPr>
            <a:r>
              <a:rPr sz="1950" b="0">
                <a:solidFill>
                  <a:srgbClr val="777B7D"/>
                </a:solidFill>
                <a:latin typeface="Heiti TC"/>
                <a:ea typeface="Heiti TC"/>
                <a:cs typeface="Heiti TC"/>
              </a:rPr>
              <a:t>github.com/bread-ovO/Hackathon-WeiYang</a:t>
            </a:r>
          </a:p>
        </p:txBody>
      </p:sp>
    </p:spTree>
    <p:extLst>
      <p:ext uri="{BB962C8B-B14F-4D97-AF65-F5344CB8AC3E}">
        <p14:creationId xmlns:p14="http://schemas.microsoft.com/office/powerpoint/2010/main" val="111127564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2026-09-14T09:06:33.6020000Z</dcterms:created>
  <dcterms:modified xsi:type="dcterms:W3CDTF">2026-09-14T09:06:33.6020000Z</dcterms:modified>
</coreProperties>
</file>